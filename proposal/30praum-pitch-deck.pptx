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0"/>
            <a:ext cx="54864" cy="5143500"/>
          </a:xfrm>
          <a:prstGeom prst="rect">
            <a:avLst/>
          </a:prstGeom>
          <a:solidFill>
            <a:srgbClr val="D12D3F"/>
          </a:solidFill>
          <a:ln w="12700">
            <a:solidFill>
              <a:srgbClr val="D12D3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365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PROPOSTA COMERCIAL · PITCH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43600" y="3657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C4C4C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v1 · MAIO 2026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" y="155448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-1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30PRAUM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822960" y="26517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4C4C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plataforma digital pra próxima década da casa.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3863340"/>
            <a:ext cx="3657600" cy="0"/>
          </a:xfrm>
          <a:prstGeom prst="line">
            <a:avLst/>
          </a:prstGeom>
          <a:noFill/>
          <a:ln w="19050">
            <a:solidFill>
              <a:srgbClr val="D12D3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0462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7A7A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APRESENTADO PARA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22960" y="427482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Clara Mendes · CEO 30praum  ·  Diretoria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464058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A7A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APRESENTADO POR  ·  Alvaro Carlisbino · Founder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A7A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30PRAUM · PITCH COMERCIAL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0" y="16459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150" kern="0" dirty="0">
                <a:solidFill>
                  <a:srgbClr val="7A7A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 / 10  ·  v1 · MAI 2026 · CONFIDENCIAL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57200" y="411480"/>
            <a:ext cx="8229600" cy="0"/>
          </a:xfrm>
          <a:prstGeom prst="line">
            <a:avLst/>
          </a:prstGeom>
          <a:noFill/>
          <a:ln w="6350">
            <a:solidFill>
              <a:srgbClr val="DEDED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2346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7A7A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Software house · Alvaro Carlisbino · Documento confidencial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64008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50" kern="0" dirty="0">
                <a:solidFill>
                  <a:srgbClr val="D12D3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02 · A DOR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42976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-200" kern="0" dirty="0">
                <a:solidFill>
                  <a:srgbClr val="D12D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300 MIL</a:t>
            </a:r>
            <a:endParaRPr lang="en-US" sz="7200" dirty="0"/>
          </a:p>
        </p:txBody>
      </p:sp>
      <p:sp>
        <p:nvSpPr>
          <p:cNvPr id="8" name="Text 6"/>
          <p:cNvSpPr/>
          <p:nvPr/>
        </p:nvSpPr>
        <p:spPr>
          <a:xfrm>
            <a:off x="457200" y="283464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A0A0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acessos em 3 minutos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324612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7A7A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 último drop. O site caiu.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846320" y="1280160"/>
            <a:ext cx="3840480" cy="2743200"/>
          </a:xfrm>
          <a:prstGeom prst="rect">
            <a:avLst/>
          </a:prstGeom>
          <a:solidFill>
            <a:srgbClr val="F5F4F1"/>
          </a:solidFill>
          <a:ln w="6350">
            <a:solidFill>
              <a:srgbClr val="DEDE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6320" y="1280160"/>
            <a:ext cx="54864" cy="2743200"/>
          </a:xfrm>
          <a:prstGeom prst="rect">
            <a:avLst/>
          </a:prstGeom>
          <a:solidFill>
            <a:srgbClr val="D12D3F"/>
          </a:solidFill>
          <a:ln w="12700">
            <a:solidFill>
              <a:srgbClr val="D12D3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74920" y="1417320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7A7A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 que aconteceu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074920" y="1783080"/>
            <a:ext cx="3520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0A0A0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Shopify Plus não aguenta drop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0A0A0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 Ingressos cobra ~8% por ingresso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0A0A0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Instagram é o único canal de fã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800" dirty="0">
                <a:solidFill>
                  <a:srgbClr val="00000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i="1" dirty="0">
                <a:solidFill>
                  <a:srgbClr val="D12D3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É stack de selo. Não de holding.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A7A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30PRAUM · PITCH COMERCIAL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0" y="16459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150" kern="0" dirty="0">
                <a:solidFill>
                  <a:srgbClr val="7A7A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 / 10  ·  v1 · MAI 2026 · CONFIDENCIAL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57200" y="411480"/>
            <a:ext cx="8229600" cy="0"/>
          </a:xfrm>
          <a:prstGeom prst="line">
            <a:avLst/>
          </a:prstGeom>
          <a:noFill/>
          <a:ln w="6350">
            <a:solidFill>
              <a:srgbClr val="DEDED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2346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7A7A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Software house · Alvaro Carlisbino · Documento confidencial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64008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50" kern="0" dirty="0">
                <a:solidFill>
                  <a:srgbClr val="D12D3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03 · A 30PRAUM HOJE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 casa está pronta. A stack não.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8229600" cy="16459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194560"/>
            <a:ext cx="1920240" cy="1828800"/>
          </a:xfrm>
          <a:prstGeom prst="rect">
            <a:avLst/>
          </a:prstGeom>
          <a:solidFill>
            <a:srgbClr val="F5F4F1"/>
          </a:solidFill>
          <a:ln w="6350">
            <a:solidFill>
              <a:srgbClr val="DEDED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33172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A7A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STREAMS MATUÊ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94360" y="2606040"/>
            <a:ext cx="1645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-100" kern="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950M+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40080" y="342900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XTRANHO ainda subindo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560320" y="2194560"/>
            <a:ext cx="1920240" cy="1828800"/>
          </a:xfrm>
          <a:prstGeom prst="rect">
            <a:avLst/>
          </a:prstGeom>
          <a:solidFill>
            <a:srgbClr val="F5F4F1"/>
          </a:solidFill>
          <a:ln w="6350">
            <a:solidFill>
              <a:srgbClr val="DEDED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0" y="233172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A7A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PÚBLICO PLANTÃO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697480" y="2606040"/>
            <a:ext cx="1645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-100" kern="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 mil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2743200" y="342900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Marina Park · Fortaleza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63440" y="2194560"/>
            <a:ext cx="1920240" cy="1828800"/>
          </a:xfrm>
          <a:prstGeom prst="rect">
            <a:avLst/>
          </a:prstGeom>
          <a:solidFill>
            <a:srgbClr val="F5F4F1"/>
          </a:solidFill>
          <a:ln w="6350">
            <a:solidFill>
              <a:srgbClr val="DEDE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233172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A7A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ANOS DE OPERAÇÃO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800600" y="2606040"/>
            <a:ext cx="1645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-100" kern="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4846320" y="342900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Fundada por Matuê + Clara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766560" y="2194560"/>
            <a:ext cx="1920240" cy="1828800"/>
          </a:xfrm>
          <a:prstGeom prst="rect">
            <a:avLst/>
          </a:prstGeom>
          <a:solidFill>
            <a:srgbClr val="F5F4F1"/>
          </a:solidFill>
          <a:ln w="6350">
            <a:solidFill>
              <a:srgbClr val="DEDE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49440" y="233172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A7A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ARTISTAS NO ROSTER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903720" y="2606040"/>
            <a:ext cx="1645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-100" kern="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6949440" y="342900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Matuê · Wiu · Teto · Brandão85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A3A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Vocês não precisam crescer. Vocês precisam de stack que aguente o tamanho que já têm.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A7A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30PRAUM · PITCH COMERCIAL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0" y="16459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150" kern="0" dirty="0">
                <a:solidFill>
                  <a:srgbClr val="7A7A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 / 10  ·  v1 · MAI 2026 · CONFIDENCIAL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57200" y="411480"/>
            <a:ext cx="8229600" cy="0"/>
          </a:xfrm>
          <a:prstGeom prst="line">
            <a:avLst/>
          </a:prstGeom>
          <a:noFill/>
          <a:ln w="6350">
            <a:solidFill>
              <a:srgbClr val="DEDED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2346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7A7A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Software house · Alvaro Carlisbino · Documento confidencial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6400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50" kern="0" dirty="0">
                <a:solidFill>
                  <a:srgbClr val="D12D3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04 · O QUE VAMOS CONSTRUIR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Uma plataforma. Quatro frentes.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8229600" cy="16459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057400"/>
            <a:ext cx="3840480" cy="1188720"/>
          </a:xfrm>
          <a:prstGeom prst="rect">
            <a:avLst/>
          </a:prstGeom>
          <a:solidFill>
            <a:srgbClr val="F5F4F1"/>
          </a:solidFill>
          <a:ln w="6350">
            <a:solidFill>
              <a:srgbClr val="DEDED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1945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12D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34440" y="21945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Site 30praum.com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34440" y="26060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Vitrine, drops, álbuns, news — arquitetado pra aguentar pico de drop sem cair.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46320" y="2057400"/>
            <a:ext cx="3840480" cy="1188720"/>
          </a:xfrm>
          <a:prstGeom prst="rect">
            <a:avLst/>
          </a:prstGeom>
          <a:solidFill>
            <a:srgbClr val="F5F4F1"/>
          </a:solidFill>
          <a:ln w="6350">
            <a:solidFill>
              <a:srgbClr val="DEDED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0" y="21945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12D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623560" y="21945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Loja própria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623560" y="26060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Frontend e checkout sob controle. Shopify como ERP no backend.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611880"/>
            <a:ext cx="3840480" cy="1188720"/>
          </a:xfrm>
          <a:prstGeom prst="rect">
            <a:avLst/>
          </a:prstGeom>
          <a:solidFill>
            <a:srgbClr val="F5F4F1"/>
          </a:solidFill>
          <a:ln w="6350">
            <a:solidFill>
              <a:srgbClr val="DEDE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74904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12D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34440" y="37490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Ingressos Plantão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34440" y="4160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Checkout próprio que substitui ST. Taxa cai de ~8% pra ~3%.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6320" y="3611880"/>
            <a:ext cx="3840480" cy="1188720"/>
          </a:xfrm>
          <a:prstGeom prst="rect">
            <a:avLst/>
          </a:prstGeom>
          <a:solidFill>
            <a:srgbClr val="F5F4F1"/>
          </a:solidFill>
          <a:ln w="6350">
            <a:solidFill>
              <a:srgbClr val="DEDE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0" y="374904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12D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623560" y="37490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Painel + workflow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23560" y="4160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Admin pra time da 30praum operar drops, pedidos e news com aprovação multi-pessoa.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A7A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30PRAUM · PITCH COMERCIAL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0" y="16459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150" kern="0" dirty="0">
                <a:solidFill>
                  <a:srgbClr val="7A7A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 / 10  ·  v1 · MAI 2026 · CONFIDENCIAL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57200" y="411480"/>
            <a:ext cx="8229600" cy="0"/>
          </a:xfrm>
          <a:prstGeom prst="line">
            <a:avLst/>
          </a:prstGeom>
          <a:noFill/>
          <a:ln w="6350">
            <a:solidFill>
              <a:srgbClr val="DEDED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2346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7A7A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Software house · Alvaro Carlisbino · Documento confidencial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6400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50" kern="0" dirty="0">
                <a:solidFill>
                  <a:srgbClr val="D12D3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05 · COMO ENTREGAMOS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Três fases. Cheques pequenos.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8229600" cy="16459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1031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D12D3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FASE 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23774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Fundação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57200" y="2971800"/>
            <a:ext cx="914400" cy="0"/>
          </a:xfrm>
          <a:prstGeom prst="line">
            <a:avLst/>
          </a:prstGeom>
          <a:noFill/>
          <a:ln w="19050">
            <a:solidFill>
              <a:srgbClr val="D12D3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10896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Site + CMS + arquitetura drop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7033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A7A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Prazo: 60 dias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" y="40233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R$ 68.000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291840" y="21031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D12D3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FASE 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91840" y="23774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Plantão sem ST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291840" y="2971800"/>
            <a:ext cx="914400" cy="0"/>
          </a:xfrm>
          <a:prstGeom prst="line">
            <a:avLst/>
          </a:prstGeom>
          <a:noFill/>
          <a:ln w="19050">
            <a:solidFill>
              <a:srgbClr val="D12D3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91840" y="310896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Checkout próprio + workflow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291840" y="37033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A7A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Prazo: 45 dias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291840" y="40233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R$ 52.000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126480" y="21031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D12D3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FASE 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126480" y="23774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Blindagem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6126480" y="2971800"/>
            <a:ext cx="914400" cy="0"/>
          </a:xfrm>
          <a:prstGeom prst="line">
            <a:avLst/>
          </a:prstGeom>
          <a:noFill/>
          <a:ln w="19050">
            <a:solidFill>
              <a:srgbClr val="D12D3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26480" y="310896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LGPD + audit + segurança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126480" y="37033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A7A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Prazo: 30 dias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126480" y="40233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R$ 28.000</a:t>
            </a:r>
            <a:endParaRPr lang="en-US" sz="2400" dirty="0"/>
          </a:p>
        </p:txBody>
      </p:sp>
      <p:sp>
        <p:nvSpPr>
          <p:cNvPr id="27" name="Shape 25"/>
          <p:cNvSpPr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" y="46177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ENTREGA TOTAL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114800" y="461772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R$ 148.000  ·  4 a 5 meses  ·  SLA R$ 9.500/mês desde mês 2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A7A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30PRAUM · PITCH COMERCIAL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0" y="16459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150" kern="0" dirty="0">
                <a:solidFill>
                  <a:srgbClr val="7A7A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 / 10  ·  v1 · MAI 2026 · CONFIDENCIAL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57200" y="411480"/>
            <a:ext cx="8229600" cy="0"/>
          </a:xfrm>
          <a:prstGeom prst="line">
            <a:avLst/>
          </a:prstGeom>
          <a:noFill/>
          <a:ln w="6350">
            <a:solidFill>
              <a:srgbClr val="DEDED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2346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7A7A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Software house · Alvaro Carlisbino · Documento confidencial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6400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50" kern="0" dirty="0">
                <a:solidFill>
                  <a:srgbClr val="D12D3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06 · QUATRO CAMINHOS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Vocês escolhem o ritmo da entrada.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8229600" cy="16459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103120"/>
            <a:ext cx="2377440" cy="50292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103120"/>
            <a:ext cx="21579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CENÁRIO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834640" y="2103120"/>
            <a:ext cx="3840480" cy="50292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44368" y="2103120"/>
            <a:ext cx="3621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DESCRIÇÃO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675120" y="2103120"/>
            <a:ext cx="1188720" cy="50292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84848" y="2103120"/>
            <a:ext cx="9692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ENTREGA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863840" y="2103120"/>
            <a:ext cx="1280160" cy="50292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73568" y="2103120"/>
            <a:ext cx="10607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MENSAL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606040"/>
            <a:ext cx="237744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DEDE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606040"/>
            <a:ext cx="21579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0A0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· Mínimo viável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834640" y="2606040"/>
            <a:ext cx="3840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DEDED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44368" y="2606040"/>
            <a:ext cx="3621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A0A0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Site + Shopify headless. Mantém ST.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675120" y="2606040"/>
            <a:ext cx="118872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DEDE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84848" y="2606040"/>
            <a:ext cx="9692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0A0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R$ 95k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863840" y="2606040"/>
            <a:ext cx="128016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DEDED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73568" y="2606040"/>
            <a:ext cx="10607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0A0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R$ 6.5k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108960"/>
            <a:ext cx="2377440" cy="502920"/>
          </a:xfrm>
          <a:prstGeom prst="rect">
            <a:avLst/>
          </a:prstGeom>
          <a:solidFill>
            <a:srgbClr val="FFEEC2"/>
          </a:solidFill>
          <a:ln w="3810">
            <a:solidFill>
              <a:srgbClr val="DEDED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3108960"/>
            <a:ext cx="21579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0A0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 · Híbrido — recomendado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834640" y="3108960"/>
            <a:ext cx="3840480" cy="502920"/>
          </a:xfrm>
          <a:prstGeom prst="rect">
            <a:avLst/>
          </a:prstGeom>
          <a:solidFill>
            <a:srgbClr val="FFEEC2"/>
          </a:solidFill>
          <a:ln w="3810">
            <a:solidFill>
              <a:srgbClr val="DEDED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944368" y="3108960"/>
            <a:ext cx="3621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A0A0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+ Plantão checkout próprio + workflow.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675120" y="3108960"/>
            <a:ext cx="1188720" cy="502920"/>
          </a:xfrm>
          <a:prstGeom prst="rect">
            <a:avLst/>
          </a:prstGeom>
          <a:solidFill>
            <a:srgbClr val="FFEEC2"/>
          </a:solidFill>
          <a:ln w="3810">
            <a:solidFill>
              <a:srgbClr val="DEDED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84848" y="3108960"/>
            <a:ext cx="9692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0A0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R$ 148k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863840" y="3108960"/>
            <a:ext cx="1280160" cy="502920"/>
          </a:xfrm>
          <a:prstGeom prst="rect">
            <a:avLst/>
          </a:prstGeom>
          <a:solidFill>
            <a:srgbClr val="FFEEC2"/>
          </a:solidFill>
          <a:ln w="3810">
            <a:solidFill>
              <a:srgbClr val="DEDED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73568" y="3108960"/>
            <a:ext cx="10607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0A0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R$ 9.5k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7200" y="3611880"/>
            <a:ext cx="237744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DEDED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6928" y="3611880"/>
            <a:ext cx="21579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0A0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 · Acelerado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834640" y="3611880"/>
            <a:ext cx="38404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DEDED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44368" y="3611880"/>
            <a:ext cx="3621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A0A0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+ E-commerce próprio (sai Shopify).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675120" y="3611880"/>
            <a:ext cx="118872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DEDED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784848" y="3611880"/>
            <a:ext cx="9692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0A0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R$ 208k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863840" y="3611880"/>
            <a:ext cx="128016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DEDED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973568" y="3611880"/>
            <a:ext cx="10607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0A0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R$ 13k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57200" y="4114800"/>
            <a:ext cx="2377440" cy="502920"/>
          </a:xfrm>
          <a:prstGeom prst="rect">
            <a:avLst/>
          </a:prstGeom>
          <a:solidFill>
            <a:srgbClr val="F5F4F1"/>
          </a:solidFill>
          <a:ln w="3810">
            <a:solidFill>
              <a:srgbClr val="DEDED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66928" y="4114800"/>
            <a:ext cx="21579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0A0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 · Time fixo + PLR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834640" y="4114800"/>
            <a:ext cx="3840480" cy="502920"/>
          </a:xfrm>
          <a:prstGeom prst="rect">
            <a:avLst/>
          </a:prstGeom>
          <a:solidFill>
            <a:srgbClr val="F5F4F1"/>
          </a:solidFill>
          <a:ln w="3810">
            <a:solidFill>
              <a:srgbClr val="DEDED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944368" y="4114800"/>
            <a:ext cx="3621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A0A0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Parceria contínua. Fixo + variável.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675120" y="4114800"/>
            <a:ext cx="1188720" cy="502920"/>
          </a:xfrm>
          <a:prstGeom prst="rect">
            <a:avLst/>
          </a:prstGeom>
          <a:solidFill>
            <a:srgbClr val="F5F4F1"/>
          </a:solidFill>
          <a:ln w="3810">
            <a:solidFill>
              <a:srgbClr val="DEDED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784848" y="4114800"/>
            <a:ext cx="9692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0A0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—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7863840" y="4114800"/>
            <a:ext cx="1280160" cy="502920"/>
          </a:xfrm>
          <a:prstGeom prst="rect">
            <a:avLst/>
          </a:prstGeom>
          <a:solidFill>
            <a:srgbClr val="F5F4F1"/>
          </a:solidFill>
          <a:ln w="3810">
            <a:solidFill>
              <a:srgbClr val="DEDED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973568" y="4114800"/>
            <a:ext cx="10607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0A0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R$ 18k+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A7A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Começar pelo B. Evoluir pra C ou D quando bater confiança. Sem lock-in: troca de cenário com aviso de 60 dias.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A7A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30PRAUM · PITCH COMERCIAL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0" y="16459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150" kern="0" dirty="0">
                <a:solidFill>
                  <a:srgbClr val="7A7A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7 / 10  ·  v1 · MAI 2026 · CONFIDENCIAL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57200" y="411480"/>
            <a:ext cx="8229600" cy="0"/>
          </a:xfrm>
          <a:prstGeom prst="line">
            <a:avLst/>
          </a:prstGeom>
          <a:noFill/>
          <a:ln w="6350">
            <a:solidFill>
              <a:srgbClr val="DEDED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2346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7A7A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Software house · Alvaro Carlisbino · Documento confidencial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6400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50" kern="0" dirty="0">
                <a:solidFill>
                  <a:srgbClr val="D12D3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07 · O DINHEIRO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Paga sozinho em 1 edição.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8229600" cy="16459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1945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A7A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PAYBACK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2468880"/>
            <a:ext cx="4297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spc="-200" kern="0" dirty="0">
                <a:solidFill>
                  <a:srgbClr val="D12D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 edição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A0A0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 Plantão sem ST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7200" y="411480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7A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≈ R$ 300.000 de economia direta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37760" y="21945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A7A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ANO 1 vs HOJE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937760" y="26060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0A0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Shopify Plus → Basic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0" y="26060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7D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–R$ 139.800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937760" y="2953512"/>
            <a:ext cx="3749040" cy="0"/>
          </a:xfrm>
          <a:prstGeom prst="line">
            <a:avLst/>
          </a:prstGeom>
          <a:noFill/>
          <a:ln w="3810">
            <a:solidFill>
              <a:srgbClr val="DEDED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37760" y="29718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0A0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Taxa ST (1 edição)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315200" y="2971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7D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–R$ 300.000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937760" y="3319272"/>
            <a:ext cx="3749040" cy="0"/>
          </a:xfrm>
          <a:prstGeom prst="line">
            <a:avLst/>
          </a:prstGeom>
          <a:noFill/>
          <a:ln w="3810">
            <a:solidFill>
              <a:srgbClr val="DEDED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37760" y="33375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0A0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Entrega plataforma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15200" y="3337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+R$ 148.000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937760" y="3685032"/>
            <a:ext cx="3749040" cy="0"/>
          </a:xfrm>
          <a:prstGeom prst="line">
            <a:avLst/>
          </a:prstGeom>
          <a:noFill/>
          <a:ln w="3810">
            <a:solidFill>
              <a:srgbClr val="DEDED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37760" y="37033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0A0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SLA × 12 meses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15200" y="37033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+R$ 114.000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937760" y="4050792"/>
            <a:ext cx="3749040" cy="0"/>
          </a:xfrm>
          <a:prstGeom prst="line">
            <a:avLst/>
          </a:prstGeom>
          <a:noFill/>
          <a:ln w="3810">
            <a:solidFill>
              <a:srgbClr val="DEDED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937760" y="4114800"/>
            <a:ext cx="3749040" cy="41148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74920" y="411480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ECONOMIA LÍQUIDA · ANO 1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132320" y="411480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R$ 177.800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A7A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30PRAUM · PITCH COMERCIAL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0" y="16459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150" kern="0" dirty="0">
                <a:solidFill>
                  <a:srgbClr val="7A7A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 / 10  ·  v1 · MAI 2026 · CONFIDENCIAL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57200" y="411480"/>
            <a:ext cx="8229600" cy="0"/>
          </a:xfrm>
          <a:prstGeom prst="line">
            <a:avLst/>
          </a:prstGeom>
          <a:noFill/>
          <a:ln w="6350">
            <a:solidFill>
              <a:srgbClr val="DEDED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2346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7A7A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Software house · Alvaro Carlisbino · Documento confidencial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6400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50" kern="0" dirty="0">
                <a:solidFill>
                  <a:srgbClr val="D12D3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08 · O QUE VEM DEPOIS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Não termina aqui. Começa.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8229600" cy="16459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011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Conforme a operação amadurecer, módulos entram em fases futuras — sem compromisso agora.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60604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12D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97280" y="26060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 mobile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29260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iOS + Android, push de drop, carteira de ingressos com QR offline.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846320" y="260604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12D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486400" y="26060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Clube de Fãs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486400" y="29260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Programa de fidelidade, drops antecipados, conteúdo exclusivo.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70332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12D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97280" y="37033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Incubadora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97280" y="40233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Triagem de novos artistas, contrato digital, onboarding estruturado.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846320" y="370332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12D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486400" y="37033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Loja de digitais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486400" y="40233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Beats, samples, kits, presets — receita sem custo logístico.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A7A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Cotação separada quando fizer sentido. A stack inicial já comporta.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A7A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30PRAUM · PITCH COMERCIAL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0" y="16459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150" kern="0" dirty="0">
                <a:solidFill>
                  <a:srgbClr val="7A7A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9 / 10  ·  v1 · MAI 2026 · CONFIDENCIAL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57200" y="411480"/>
            <a:ext cx="8229600" cy="0"/>
          </a:xfrm>
          <a:prstGeom prst="line">
            <a:avLst/>
          </a:prstGeom>
          <a:noFill/>
          <a:ln w="6350">
            <a:solidFill>
              <a:srgbClr val="DEDED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2346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7A7A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Software house · Alvaro Carlisbino · Documento confidencial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6400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50" kern="0" dirty="0">
                <a:solidFill>
                  <a:srgbClr val="D12D3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09 · PRÓXIMOS PASSOS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Como entramos em execução.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8229600" cy="16459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148840"/>
            <a:ext cx="365760" cy="365760"/>
          </a:xfrm>
          <a:prstGeom prst="ellipse">
            <a:avLst/>
          </a:prstGeom>
          <a:solidFill>
            <a:srgbClr val="D12D3F"/>
          </a:solidFill>
          <a:ln w="12700">
            <a:solidFill>
              <a:srgbClr val="D12D3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21488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Reunião de alinhamento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06240" y="214884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60 minutos com Clara + financeiro. Decisão de cenário.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365760" cy="365760"/>
          </a:xfrm>
          <a:prstGeom prst="ellipse">
            <a:avLst/>
          </a:prstGeom>
          <a:solidFill>
            <a:srgbClr val="D12D3F"/>
          </a:solidFill>
          <a:ln w="12700">
            <a:solidFill>
              <a:srgbClr val="D12D3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651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05840" y="26517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Contrato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06240" y="26517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Escopo detalhado em 5 dias úteis. DocuSign ou ClickSign.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154680"/>
            <a:ext cx="365760" cy="365760"/>
          </a:xfrm>
          <a:prstGeom prst="ellipse">
            <a:avLst/>
          </a:prstGeom>
          <a:solidFill>
            <a:srgbClr val="D12D3F"/>
          </a:solidFill>
          <a:ln w="12700">
            <a:solidFill>
              <a:srgbClr val="D12D3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1546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05840" y="31546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Kickoff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206240" y="315468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Setup de infra + Slack compartilhado. Reunião de planejamento.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657600"/>
            <a:ext cx="365760" cy="365760"/>
          </a:xfrm>
          <a:prstGeom prst="ellipse">
            <a:avLst/>
          </a:prstGeom>
          <a:solidFill>
            <a:srgbClr val="D12D3F"/>
          </a:solidFill>
          <a:ln w="12700">
            <a:solidFill>
              <a:srgbClr val="D12D3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6576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05840" y="36576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Fase 1 em execução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206240" y="365760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Demos quinzenais. Site novo + arquitetura drop em 60 dias.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160520"/>
            <a:ext cx="365760" cy="365760"/>
          </a:xfrm>
          <a:prstGeom prst="ellipse">
            <a:avLst/>
          </a:prstGeom>
          <a:solidFill>
            <a:srgbClr val="D12D3F"/>
          </a:solidFill>
          <a:ln w="12700">
            <a:solidFill>
              <a:srgbClr val="D12D3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41605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005840" y="41605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SLA inicia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206240" y="416052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Sustentação contínua desde o mês 2. On-call em drops.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0"/>
            <a:ext cx="54864" cy="5143500"/>
          </a:xfrm>
          <a:prstGeom prst="rect">
            <a:avLst/>
          </a:prstGeom>
          <a:solidFill>
            <a:srgbClr val="D12D3F"/>
          </a:solidFill>
          <a:ln w="12700">
            <a:solidFill>
              <a:srgbClr val="D12D3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28016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“Não é gravadora pra render mais.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210312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i="1" dirty="0">
                <a:solidFill>
                  <a:srgbClr val="D12D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É gravadora pra durar mais.”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3017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7A7A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— Clara Mendes, CEO 30praum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22960" y="4023360"/>
            <a:ext cx="7863840" cy="0"/>
          </a:xfrm>
          <a:prstGeom prst="line">
            <a:avLst/>
          </a:prstGeom>
          <a:noFill/>
          <a:ln w="6350">
            <a:solidFill>
              <a:srgbClr val="7A7A7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1605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7A7A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CONTATO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" y="43891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Alvaro Carlisbino · Founder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466344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4C4C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contato@[software-house].com.br  ·  +55 (XX) XXXXX-XXXX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0" y="46634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150" kern="0" dirty="0">
                <a:solidFill>
                  <a:srgbClr val="7A7A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v1 · MAIO 2026 · DOCUMENTO CONFIDENCIAL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30praum — Pitch Comercial</dc:title>
  <dc:subject>PptxGenJS Presentation</dc:subject>
  <dc:creator>Alvaro Carlisbino</dc:creator>
  <cp:lastModifiedBy>Alvaro Carlisbino</cp:lastModifiedBy>
  <cp:revision>1</cp:revision>
  <dcterms:created xsi:type="dcterms:W3CDTF">2026-05-16T12:58:55Z</dcterms:created>
  <dcterms:modified xsi:type="dcterms:W3CDTF">2026-05-16T12:58:55Z</dcterms:modified>
</cp:coreProperties>
</file>